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1Dsh03QinpkEKjq9Ihm1HhGFB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Nuni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establecer las 15 areas!</a:t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highlight>
                <a:srgbClr val="F5F7FC"/>
              </a:highlight>
            </a:endParaRPr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54f11521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a54f115217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concepto de tendencias, variación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(invierno y verano)</a:t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REVISAR</a:t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ea5690e35_0_5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3aea5690e35_0_5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3aea5690e35_0_5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ea5690e35_0_6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aea5690e35_0_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aea5690e35_0_6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3aea5690e35_0_6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3aea5690e35_0_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ea5690e35_0_7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aea5690e35_0_7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3aea5690e35_0_7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g3aea5690e35_0_7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ea5690e35_0_7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3aea5690e35_0_7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aea5690e35_0_7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3aea5690e35_0_7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3aea5690e35_0_7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ea5690e35_0_82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g3aea5690e35_0_8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ea5690e35_0_8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aea5690e35_0_8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g3aea5690e35_0_8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g3aea5690e35_0_8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g3aea5690e35_0_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ea5690e35_0_9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g3aea5690e35_0_9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ea5690e35_0_9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3aea5690e35_0_9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3aea5690e35_0_9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ea5690e35_0_9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ea5690e35_0_5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aea5690e35_0_5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aea5690e35_0_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4.png"/><Relationship Id="rId13" Type="http://schemas.openxmlformats.org/officeDocument/2006/relationships/image" Target="../media/image20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9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1" y="2707792"/>
            <a:ext cx="12192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Lucas Poblete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Ignacio Bello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4" name="Google Shape;64;p2"/>
          <p:cNvGrpSpPr/>
          <p:nvPr/>
        </p:nvGrpSpPr>
        <p:grpSpPr>
          <a:xfrm>
            <a:off x="4280001" y="2058419"/>
            <a:ext cx="7633553" cy="2855102"/>
            <a:chOff x="0" y="0"/>
            <a:chExt cx="7633553" cy="2855102"/>
          </a:xfrm>
        </p:grpSpPr>
        <p:sp>
          <p:nvSpPr>
            <p:cNvPr id="65" name="Google Shape;65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Lucas Poblete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Líder y responsable del proyecto.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Programación, documentación y diseño.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Ignacio Bello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Líder y responsable del proyecto.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Programación, documentación y diseño.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35954" y="1631457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" name="Google Shape;7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8675" y="2234151"/>
            <a:ext cx="777050" cy="98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8675" y="3759996"/>
            <a:ext cx="777050" cy="947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Falta de apoyo u opciones para encontrar tutores sobre alguna asignatura o tema y conseguir tutorías personalizadas .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Una aplicación web que permita a los estudiantes encontrar y conectar con personas (tutores) que puedan enseñar.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4"/>
          <p:cNvSpPr txBox="1"/>
          <p:nvPr/>
        </p:nvSpPr>
        <p:spPr>
          <a:xfrm>
            <a:off x="1" y="40824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una aplicación web para la gestión de tutorías online que sea accesible en distintos dispositivos.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Tener una base de 2.000 clientes activos en un periodo de 3 años.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Contar con al menos un tutor en cada una de las 15 áreas de conocimiento dentro del primer año.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Alcanzar una meta de 850 tutorías realizadas al término del primer año de funcionamiento.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9" name="Google Shape;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5"/>
          <p:cNvSpPr txBox="1"/>
          <p:nvPr/>
        </p:nvSpPr>
        <p:spPr>
          <a:xfrm>
            <a:off x="1367900" y="2158175"/>
            <a:ext cx="4863300" cy="3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8"/>
              <a:buFont typeface="Arial"/>
              <a:buNone/>
            </a:pPr>
            <a:r>
              <a:rPr b="1" i="0" lang="es-CL" sz="2008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Alcance</a:t>
            </a:r>
            <a:r>
              <a:rPr b="1" i="0" lang="es-CL" sz="1408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endParaRPr b="0" i="0" sz="1408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Gestión de Tutorías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Autenticación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Videollamadas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Evaluaciones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6619100" y="2277525"/>
            <a:ext cx="3959100" cy="3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Limitaciones: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Se limitará </a:t>
            </a:r>
            <a:r>
              <a:rPr b="1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SOLO</a:t>
            </a: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 a tutorías de modalidad online.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b="1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No</a:t>
            </a: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 se desarrollará una aplicación móvil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b="1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No </a:t>
            </a: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se incorporará un sistema de pago.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No se incorporará la función de grabaciones videollamadas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Nunito"/>
              <a:buChar char="-"/>
            </a:pP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Las tutorías serán </a:t>
            </a:r>
            <a:r>
              <a:rPr b="1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individuales</a:t>
            </a:r>
            <a:r>
              <a:rPr b="0" i="0" lang="es-CL" sz="1600" u="none" cap="none" strike="noStrik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16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0" y="15511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3" name="Google Shape;11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9700" y="2292911"/>
            <a:ext cx="9753600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1" y="925681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Temporal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2" name="Google Shape;122;p7"/>
          <p:cNvGrpSpPr/>
          <p:nvPr/>
        </p:nvGrpSpPr>
        <p:grpSpPr>
          <a:xfrm>
            <a:off x="684013" y="1618548"/>
            <a:ext cx="3302034" cy="4217714"/>
            <a:chOff x="0" y="1189989"/>
            <a:chExt cx="2726700" cy="3482836"/>
          </a:xfrm>
        </p:grpSpPr>
        <p:sp>
          <p:nvSpPr>
            <p:cNvPr id="123" name="Google Shape;123;p7"/>
            <p:cNvSpPr/>
            <p:nvPr/>
          </p:nvSpPr>
          <p:spPr>
            <a:xfrm>
              <a:off x="0" y="1189989"/>
              <a:ext cx="2726700" cy="669000"/>
            </a:xfrm>
            <a:prstGeom prst="homePlate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110700" lIns="110700" spcFirstLastPara="1" rIns="110700" wrap="square" tIns="11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5"/>
                <a:buFont typeface="Arial"/>
                <a:buNone/>
              </a:pPr>
              <a:r>
                <a:rPr b="0" i="0" lang="es-CL" sz="1695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Fase 1</a:t>
              </a:r>
              <a:endParaRPr b="0" i="0" sz="169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" name="Google Shape;124;p7"/>
            <p:cNvSpPr txBox="1"/>
            <p:nvPr/>
          </p:nvSpPr>
          <p:spPr>
            <a:xfrm>
              <a:off x="410850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700" lIns="110700" spcFirstLastPara="1" rIns="110700" wrap="square" tIns="110700">
              <a:noAutofit/>
            </a:bodyPr>
            <a:lstStyle/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Kick Off 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Encuesta 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Definición de metodología 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Lista de requerimientos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Definición de alcance 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Desarrollo doc. APT 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Creación de cronograma 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Entrega documentos 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fase 1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7"/>
          <p:cNvGrpSpPr/>
          <p:nvPr/>
        </p:nvGrpSpPr>
        <p:grpSpPr>
          <a:xfrm>
            <a:off x="3425020" y="1618289"/>
            <a:ext cx="3077514" cy="4217974"/>
            <a:chOff x="2263425" y="1189775"/>
            <a:chExt cx="2541300" cy="3483050"/>
          </a:xfrm>
        </p:grpSpPr>
        <p:sp>
          <p:nvSpPr>
            <p:cNvPr id="126" name="Google Shape;126;p7"/>
            <p:cNvSpPr/>
            <p:nvPr/>
          </p:nvSpPr>
          <p:spPr>
            <a:xfrm>
              <a:off x="2263425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110700" lIns="110700" spcFirstLastPara="1" rIns="110700" wrap="square" tIns="11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5"/>
                <a:buFont typeface="Arial"/>
                <a:buNone/>
              </a:pPr>
              <a:r>
                <a:rPr b="0" i="0" lang="es-CL" sz="1695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Fase 2 avance</a:t>
              </a:r>
              <a:endParaRPr b="0" i="0" sz="169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" name="Google Shape;127;p7"/>
            <p:cNvSpPr txBox="1"/>
            <p:nvPr/>
          </p:nvSpPr>
          <p:spPr>
            <a:xfrm>
              <a:off x="2512202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700" lIns="110700" spcFirstLastPara="1" rIns="110700" wrap="square" tIns="110700">
              <a:noAutofit/>
            </a:bodyPr>
            <a:lstStyle/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Planeación de Sprint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Modelamiento y creación de BBDD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Creación de interfaz responsiva 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Módulo de autenticación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Módulo Chat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Módulo de tutor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Pruebas funcionales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Revisión de Sprint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Desarrollo informe avance fase 2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Entrega informe avance fase 2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7"/>
          <p:cNvGrpSpPr/>
          <p:nvPr/>
        </p:nvGrpSpPr>
        <p:grpSpPr>
          <a:xfrm>
            <a:off x="5927611" y="1618289"/>
            <a:ext cx="3077514" cy="4217974"/>
            <a:chOff x="4329974" y="1189775"/>
            <a:chExt cx="2541300" cy="3483050"/>
          </a:xfrm>
        </p:grpSpPr>
        <p:sp>
          <p:nvSpPr>
            <p:cNvPr id="129" name="Google Shape;129;p7"/>
            <p:cNvSpPr/>
            <p:nvPr/>
          </p:nvSpPr>
          <p:spPr>
            <a:xfrm>
              <a:off x="4329974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110700" lIns="110700" spcFirstLastPara="1" rIns="110700" wrap="square" tIns="110700">
              <a:noAutofit/>
            </a:bodyPr>
            <a:lstStyle/>
            <a:p>
              <a:pPr indent="0" lvl="0" marL="55364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5"/>
                <a:buFont typeface="Arial"/>
                <a:buNone/>
              </a:pPr>
              <a:r>
                <a:rPr b="0" i="0" lang="es-CL" sz="1695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Fase 2 Final</a:t>
              </a:r>
              <a:endParaRPr b="0" i="0" sz="169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" name="Google Shape;130;p7"/>
            <p:cNvSpPr txBox="1"/>
            <p:nvPr/>
          </p:nvSpPr>
          <p:spPr>
            <a:xfrm>
              <a:off x="4613553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700" lIns="110700" spcFirstLastPara="1" rIns="110700" wrap="square" tIns="110700">
              <a:noAutofit/>
            </a:bodyPr>
            <a:lstStyle/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Planeación de Sprint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Creación de interfaz responsiva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Módulo videollamada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Módulo evaluaciones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Integración de módulos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Pruebas funcionales de módulos.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Revisión de Sprint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Desarrollo informe final fase 2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Entrega informe final fase 2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7"/>
          <p:cNvGrpSpPr/>
          <p:nvPr/>
        </p:nvGrpSpPr>
        <p:grpSpPr>
          <a:xfrm>
            <a:off x="8430464" y="1618289"/>
            <a:ext cx="3077514" cy="4217974"/>
            <a:chOff x="6396739" y="1189775"/>
            <a:chExt cx="2541300" cy="3483050"/>
          </a:xfrm>
        </p:grpSpPr>
        <p:sp>
          <p:nvSpPr>
            <p:cNvPr id="132" name="Google Shape;132;p7"/>
            <p:cNvSpPr/>
            <p:nvPr/>
          </p:nvSpPr>
          <p:spPr>
            <a:xfrm>
              <a:off x="6396739" y="1189775"/>
              <a:ext cx="2541300" cy="669000"/>
            </a:xfrm>
            <a:prstGeom prst="chevron">
              <a:avLst>
                <a:gd fmla="val 50000" name="adj"/>
              </a:avLst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110700" lIns="110700" spcFirstLastPara="1" rIns="110700" wrap="square" tIns="110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95"/>
                <a:buFont typeface="Arial"/>
                <a:buNone/>
              </a:pPr>
              <a:r>
                <a:rPr b="0" i="0" lang="es-CL" sz="1695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Fase 3</a:t>
              </a:r>
              <a:endParaRPr b="0" i="0" sz="169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" name="Google Shape;133;p7"/>
            <p:cNvSpPr txBox="1"/>
            <p:nvPr/>
          </p:nvSpPr>
          <p:spPr>
            <a:xfrm>
              <a:off x="6714905" y="2057125"/>
              <a:ext cx="1905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700" lIns="110700" spcFirstLastPara="1" rIns="110700" wrap="square" tIns="110700">
              <a:noAutofit/>
            </a:bodyPr>
            <a:lstStyle/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Desarrollo de entregables fase 3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Entrega fase 3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61404" lvl="0" marL="553641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2"/>
                <a:buFont typeface="Arial"/>
                <a:buChar char="●"/>
              </a:pPr>
              <a:r>
                <a:rPr b="0" i="0" lang="es-CL" sz="13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final Proyecto APT</a:t>
              </a:r>
              <a:endParaRPr b="0" i="0" sz="13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0" y="73823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 - MVT/Extendida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2" name="Google Shape;14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9150" y="1533449"/>
            <a:ext cx="5793702" cy="504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0" y="985018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1" name="Google Shape;15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325" y="1568500"/>
            <a:ext cx="10797751" cy="49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136200" y="2769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0" name="Google Shape;160;p10" title="capstone - public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6950" y="992900"/>
            <a:ext cx="9125366" cy="578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5" name="Google Shape;165;g3a54f115217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a54f115217_0_2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a54f115217_0_21"/>
          <p:cNvSpPr txBox="1"/>
          <p:nvPr/>
        </p:nvSpPr>
        <p:spPr>
          <a:xfrm>
            <a:off x="136050" y="27697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Detalle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g3a54f115217_0_2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9" name="Google Shape;169;g3a54f115217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3600" y="828221"/>
            <a:ext cx="3141400" cy="5866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a54f115217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2625" y="1438277"/>
            <a:ext cx="3343275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5" name="Google Shape;1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Analíticos a Incorporar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11"/>
          <p:cNvSpPr/>
          <p:nvPr/>
        </p:nvSpPr>
        <p:spPr>
          <a:xfrm>
            <a:off x="750725" y="2641349"/>
            <a:ext cx="10962900" cy="201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Comparar las disminución de la cantidad solicitudes de tutoría para cada área de conocimiento en períodos trimestrales.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Disminución de tutorías realizadas en periodos de vacaciones.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variación de clientes por periodos mensuales.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4" name="Google Shape;1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“TúToría”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0" y="15490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y Frameworks utilizados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8" name="Google Shape;18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275" y="2421800"/>
            <a:ext cx="1535380" cy="153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5209" y="2525350"/>
            <a:ext cx="1535380" cy="153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4192" y="2453288"/>
            <a:ext cx="1535380" cy="153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1868" y="2525352"/>
            <a:ext cx="1535380" cy="153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90102" y="4289644"/>
            <a:ext cx="1535380" cy="153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1876" y="4263000"/>
            <a:ext cx="1745900" cy="146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2" title="Git_icon.svg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84190" y="4123188"/>
            <a:ext cx="1745900" cy="174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7887" y="4262974"/>
            <a:ext cx="1646151" cy="169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2" title="pngwing.com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754448" y="4288444"/>
            <a:ext cx="1646152" cy="1646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2" title="Bootstrap_logo.svg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84850" y="2525350"/>
            <a:ext cx="1745900" cy="1391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2" name="Google Shape;20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878400" y="2477975"/>
            <a:ext cx="10435200" cy="3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s-CL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Funcionalidades principales de la gestión de tutorías.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s-CL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Plataforma responsiva para acceso en diferentes dispositivos.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s-CL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Implementación de tecnologías y herramientas necesarias para completar la plataforma.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9" name="Google Shape;2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4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4"/>
          <p:cNvSpPr txBox="1"/>
          <p:nvPr/>
        </p:nvSpPr>
        <p:spPr>
          <a:xfrm>
            <a:off x="878400" y="2477975"/>
            <a:ext cx="10435200" cy="3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s-CL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Limitaciones de tiempo.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s-CL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Desconocimiento de herramientas, tecnologías y servicios.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</a:pPr>
            <a:r>
              <a:rPr b="0" i="0" lang="es-CL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Dificultades personales.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6" name="Google Shape;2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5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6"/>
          <p:cNvSpPr txBox="1"/>
          <p:nvPr/>
        </p:nvSpPr>
        <p:spPr>
          <a:xfrm>
            <a:off x="0" y="3044279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Y/O COMENTARIOS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