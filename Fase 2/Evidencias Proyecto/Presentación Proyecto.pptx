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6858000" cx="12192000"/>
  <p:notesSz cx="6858000" cy="9144000"/>
  <p:embeddedFontLst>
    <p:embeddedFont>
      <p:font typeface="Roboto"/>
      <p:regular r:id="rId22"/>
      <p:bold r:id="rId23"/>
      <p:italic r:id="rId24"/>
      <p:boldItalic r:id="rId25"/>
    </p:embeddedFont>
    <p:embeddedFont>
      <p:font typeface="Nunit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gNE4Fs9Oc9pI2/q9RiJkoUkx13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Roboto-regular.fntdata"/><Relationship Id="rId21" Type="http://schemas.openxmlformats.org/officeDocument/2006/relationships/slide" Target="slides/slide17.xml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Nunito-regular.fntdata"/><Relationship Id="rId25" Type="http://schemas.openxmlformats.org/officeDocument/2006/relationships/font" Target="fonts/Roboto-boldItalic.fntdata"/><Relationship Id="rId28" Type="http://schemas.openxmlformats.org/officeDocument/2006/relationships/font" Target="fonts/Nunito-italic.fntdata"/><Relationship Id="rId27" Type="http://schemas.openxmlformats.org/officeDocument/2006/relationships/font" Target="fonts/Nunito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Nunito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54f11521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a54f115217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a54f115217_0_740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1" name="Google Shape;11;g3a54f115217_0_740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2" name="Google Shape;12;g3a54f115217_0_74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a54f115217_0_744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g3a54f115217_0_74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a54f115217_0_747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8" name="Google Shape;18;g3a54f115217_0_747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9" name="Google Shape;19;g3a54f115217_0_74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a54f115217_0_75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2" name="Google Shape;22;g3a54f115217_0_751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3" name="Google Shape;23;g3a54f115217_0_751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4" name="Google Shape;24;g3a54f115217_0_75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a54f115217_0_75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7" name="Google Shape;27;g3a54f115217_0_75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a54f115217_0_759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0" name="Google Shape;30;g3a54f115217_0_759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1" name="Google Shape;31;g3a54f115217_0_75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a54f115217_0_763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4" name="Google Shape;34;g3a54f115217_0_76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a54f115217_0_766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g3a54f115217_0_766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38" name="Google Shape;38;g3a54f115217_0_766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9" name="Google Shape;39;g3a54f115217_0_766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0" name="Google Shape;40;g3a54f115217_0_76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a54f115217_0_772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3" name="Google Shape;43;g3a54f115217_0_77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a54f115217_0_775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g3a54f115217_0_775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7" name="Google Shape;47;g3a54f115217_0_77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a54f115217_0_77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54f115217_0_78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52" name="Google Shape;52;g3a54f115217_0_78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3" name="Google Shape;53;g3a54f115217_0_78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g3a54f115217_0_78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g3a54f115217_0_78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a54f115217_0_73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g3a54f115217_0_736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g3a54f115217_0_73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9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8.png"/><Relationship Id="rId5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0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Relationship Id="rId4" Type="http://schemas.openxmlformats.org/officeDocument/2006/relationships/image" Target="../media/image15.png"/><Relationship Id="rId9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16.png"/><Relationship Id="rId7" Type="http://schemas.openxmlformats.org/officeDocument/2006/relationships/image" Target="../media/image13.png"/><Relationship Id="rId8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60" name="Google Shape;6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"/>
          <p:cNvSpPr txBox="1"/>
          <p:nvPr/>
        </p:nvSpPr>
        <p:spPr>
          <a:xfrm>
            <a:off x="1" y="2707792"/>
            <a:ext cx="121920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TúToría</a:t>
            </a: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FINAL CAPSTONE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Lucas Poblete</a:t>
            </a:r>
            <a:endParaRPr i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Ignacio Bello</a:t>
            </a:r>
            <a:endParaRPr i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66" name="Google Shape;6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2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TúToría</a:t>
            </a: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68" name="Google Shape;68;p2"/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" name="Google Shape;69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70" name="Google Shape;70;p2"/>
          <p:cNvGrpSpPr/>
          <p:nvPr/>
        </p:nvGrpSpPr>
        <p:grpSpPr>
          <a:xfrm>
            <a:off x="4280001" y="2058419"/>
            <a:ext cx="7633553" cy="4350605"/>
            <a:chOff x="0" y="0"/>
            <a:chExt cx="7633553" cy="4350605"/>
          </a:xfrm>
        </p:grpSpPr>
        <p:sp>
          <p:nvSpPr>
            <p:cNvPr id="71" name="Google Shape;71;p2"/>
            <p:cNvSpPr/>
            <p:nvPr/>
          </p:nvSpPr>
          <p:spPr>
            <a:xfrm>
              <a:off x="0" y="0"/>
              <a:ext cx="7633500" cy="13596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2"/>
            <p:cNvSpPr txBox="1"/>
            <p:nvPr/>
          </p:nvSpPr>
          <p:spPr>
            <a:xfrm>
              <a:off x="1662653" y="0"/>
              <a:ext cx="5970900" cy="13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Lucas Poblete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Líder</a:t>
              </a: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y responsable de proyecto.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Programación, documentación y diseño.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135954" y="135954"/>
              <a:ext cx="1526700" cy="1087500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0" y="1495502"/>
              <a:ext cx="7633500" cy="13596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2"/>
            <p:cNvSpPr txBox="1"/>
            <p:nvPr/>
          </p:nvSpPr>
          <p:spPr>
            <a:xfrm>
              <a:off x="1662653" y="1495502"/>
              <a:ext cx="5970900" cy="13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Ignacio Bello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Líder</a:t>
              </a: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y responsable de proyecto.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Programación, documentación y diseño.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135954" y="1631457"/>
              <a:ext cx="1526700" cy="1087500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2"/>
            <p:cNvSpPr txBox="1"/>
            <p:nvPr/>
          </p:nvSpPr>
          <p:spPr>
            <a:xfrm>
              <a:off x="1662653" y="2991005"/>
              <a:ext cx="5970900" cy="13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b="0" i="0" lang="es-CL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Nombre de estudiante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Cargo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78" name="Google Shape;78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8675" y="2234151"/>
            <a:ext cx="777050" cy="98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38675" y="3759996"/>
            <a:ext cx="777050" cy="9474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4" name="Google Shape;8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3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“TúToría”</a:t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" name="Google Shape;87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8" name="Google Shape;88;p3"/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Nunito"/>
              <a:buChar char="-"/>
            </a:pPr>
            <a:r>
              <a:rPr lang="es-CL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rPr>
              <a:t>Falta de apoyo u opciones para encontrar tutores sobre alguna asignatura o tema y conseguir tutorías personalizadas .</a:t>
            </a:r>
            <a:endParaRPr>
              <a:solidFill>
                <a:srgbClr val="42424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2424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Nunito"/>
              <a:buChar char="-"/>
            </a:pPr>
            <a:r>
              <a:rPr lang="es-CL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rPr>
              <a:t>Implementar una plataforma web que permita conectar usuarios tutores y alumnos para coordinar </a:t>
            </a:r>
            <a:r>
              <a:rPr lang="es-CL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rPr>
              <a:t>tutorías</a:t>
            </a:r>
            <a:r>
              <a:rPr lang="es-CL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rPr>
              <a:t> online.</a:t>
            </a:r>
            <a:endParaRPr>
              <a:solidFill>
                <a:srgbClr val="42424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5" name="Google Shape;9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4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“TúToría”</a:t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" name="Google Shape;98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9" name="Google Shape;99;p4"/>
          <p:cNvSpPr txBox="1"/>
          <p:nvPr/>
        </p:nvSpPr>
        <p:spPr>
          <a:xfrm>
            <a:off x="1" y="4082446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 una plataforma web para gestión y </a:t>
            </a: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realización</a:t>
            </a: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tutorías online que sea accesible en distintos dispositivos.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614514" y="4732407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1750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Tener una base de 20.000 usuarios activos en un periodo de 2 años.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Contar con al menos </a:t>
            </a: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tutor </a:t>
            </a: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cada una de las 15 </a:t>
            </a: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áreas</a:t>
            </a: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conocimiento dentro de los primeros 6 meses.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Alcanzar una meta de 500 </a:t>
            </a: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tutorías</a:t>
            </a: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realizadas al </a:t>
            </a: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término</a:t>
            </a: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del primer año de funcionamiento.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06" name="Google Shape;10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5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“TúToría”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8" name="Google Shape;108;p5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 y limitaciones del proyecto</a:t>
            </a:r>
            <a:endParaRPr/>
          </a:p>
        </p:txBody>
      </p:sp>
      <p:cxnSp>
        <p:nvCxnSpPr>
          <p:cNvPr id="109" name="Google Shape;109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0" name="Google Shape;110;p5"/>
          <p:cNvSpPr txBox="1"/>
          <p:nvPr/>
        </p:nvSpPr>
        <p:spPr>
          <a:xfrm>
            <a:off x="1367900" y="2158175"/>
            <a:ext cx="4863300" cy="39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008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rPr>
              <a:t>Alcance</a:t>
            </a:r>
            <a:r>
              <a:rPr b="1" lang="es-CL" sz="1408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endParaRPr sz="1408">
              <a:solidFill>
                <a:srgbClr val="42424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424242"/>
              </a:buClr>
              <a:buSzPts val="1600"/>
              <a:buFont typeface="Nunito"/>
              <a:buChar char="-"/>
            </a:pPr>
            <a:r>
              <a:rPr lang="es-CL" sz="16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rPr>
              <a:t>Permite el registro de usuarios</a:t>
            </a:r>
            <a:endParaRPr sz="1600">
              <a:solidFill>
                <a:srgbClr val="42424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600"/>
              <a:buFont typeface="Nunito"/>
              <a:buChar char="-"/>
            </a:pPr>
            <a:r>
              <a:rPr lang="es-CL" sz="16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rPr>
              <a:t>El inicio de sesión de los usuarios</a:t>
            </a:r>
            <a:endParaRPr sz="1600">
              <a:solidFill>
                <a:srgbClr val="42424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600"/>
              <a:buFont typeface="Nunito"/>
              <a:buChar char="-"/>
            </a:pPr>
            <a:r>
              <a:rPr lang="es-CL" sz="16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rPr>
              <a:t>Ofrecer tutorías </a:t>
            </a:r>
            <a:endParaRPr sz="1600">
              <a:solidFill>
                <a:srgbClr val="42424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600"/>
              <a:buFont typeface="Nunito"/>
              <a:buChar char="-"/>
            </a:pPr>
            <a:r>
              <a:rPr lang="es-CL" sz="16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rPr>
              <a:t>Chat en tiempo real</a:t>
            </a:r>
            <a:endParaRPr sz="1600">
              <a:solidFill>
                <a:srgbClr val="42424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600"/>
              <a:buFont typeface="Nunito"/>
              <a:buChar char="-"/>
            </a:pPr>
            <a:r>
              <a:rPr lang="es-CL" sz="16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rPr>
              <a:t>Recibir tutorías</a:t>
            </a:r>
            <a:endParaRPr sz="1600">
              <a:solidFill>
                <a:srgbClr val="42424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600"/>
              <a:buFont typeface="Nunito"/>
              <a:buChar char="-"/>
            </a:pPr>
            <a:r>
              <a:rPr lang="es-CL" sz="16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rPr>
              <a:t>Videollamadas</a:t>
            </a:r>
            <a:endParaRPr sz="1600">
              <a:solidFill>
                <a:srgbClr val="42424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600"/>
              <a:buFont typeface="Nunito"/>
              <a:buChar char="-"/>
            </a:pPr>
            <a:r>
              <a:rPr lang="es-CL" sz="16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rPr>
              <a:t>Herramienta para la creación de evaluaciones</a:t>
            </a:r>
            <a:endParaRPr sz="1600">
              <a:solidFill>
                <a:srgbClr val="42424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600"/>
              <a:buFont typeface="Nunito"/>
              <a:buChar char="-"/>
            </a:pPr>
            <a:r>
              <a:rPr lang="es-CL" sz="16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rPr>
              <a:t>Sistema de valoración</a:t>
            </a:r>
            <a:endParaRPr sz="1600">
              <a:solidFill>
                <a:srgbClr val="42424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600"/>
              <a:buFont typeface="Nunito"/>
              <a:buChar char="-"/>
            </a:pPr>
            <a:r>
              <a:rPr lang="es-CL" sz="16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rPr>
              <a:t>Editar perfil</a:t>
            </a:r>
            <a:endParaRPr sz="1600">
              <a:solidFill>
                <a:srgbClr val="42424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600"/>
              <a:buFont typeface="Nunito"/>
              <a:buChar char="-"/>
            </a:pPr>
            <a:r>
              <a:rPr lang="es-CL" sz="16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rPr>
              <a:t>Multi-dispositivo</a:t>
            </a:r>
            <a:endParaRPr sz="1600">
              <a:solidFill>
                <a:srgbClr val="42424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1" name="Google Shape;111;p5"/>
          <p:cNvSpPr txBox="1"/>
          <p:nvPr/>
        </p:nvSpPr>
        <p:spPr>
          <a:xfrm>
            <a:off x="6619100" y="2277525"/>
            <a:ext cx="3959100" cy="38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6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rPr>
              <a:t>Limitaciones:</a:t>
            </a:r>
            <a:endParaRPr sz="1600">
              <a:solidFill>
                <a:srgbClr val="42424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424242"/>
              </a:buClr>
              <a:buSzPts val="1600"/>
              <a:buFont typeface="Nunito"/>
              <a:buChar char="-"/>
            </a:pPr>
            <a:r>
              <a:rPr lang="es-CL" sz="16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rPr>
              <a:t>Se limitará a tutorías online.</a:t>
            </a:r>
            <a:endParaRPr sz="1600">
              <a:solidFill>
                <a:srgbClr val="42424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600"/>
              <a:buFont typeface="Nunito"/>
              <a:buChar char="-"/>
            </a:pPr>
            <a:r>
              <a:rPr lang="es-CL" sz="16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rPr>
              <a:t>Módulo parental.</a:t>
            </a:r>
            <a:endParaRPr sz="1600">
              <a:solidFill>
                <a:srgbClr val="42424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600"/>
              <a:buFont typeface="Nunito"/>
              <a:buChar char="-"/>
            </a:pPr>
            <a:r>
              <a:rPr lang="es-CL" sz="16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rPr>
              <a:t>El sistema de pago.</a:t>
            </a:r>
            <a:endParaRPr sz="1600">
              <a:solidFill>
                <a:srgbClr val="42424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600"/>
              <a:buFont typeface="Nunito"/>
              <a:buChar char="-"/>
            </a:pPr>
            <a:r>
              <a:rPr lang="es-CL" sz="16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rPr>
              <a:t>Grabaciones videollamadas</a:t>
            </a:r>
            <a:endParaRPr sz="1600">
              <a:solidFill>
                <a:srgbClr val="42424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rgbClr val="42424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16" name="Google Shape;11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6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“TúToría”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8" name="Google Shape;118;p6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de trabajo para el desarrollo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" name="Google Shape;119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20" name="Google Shape;120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5400" y="2302436"/>
            <a:ext cx="9753600" cy="387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25" name="Google Shape;12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7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“TúToría”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7" name="Google Shape;127;p7"/>
          <p:cNvSpPr txBox="1"/>
          <p:nvPr/>
        </p:nvSpPr>
        <p:spPr>
          <a:xfrm>
            <a:off x="1" y="925681"/>
            <a:ext cx="12192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Planificación Temporal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29" name="Google Shape;129;p7"/>
          <p:cNvGrpSpPr/>
          <p:nvPr/>
        </p:nvGrpSpPr>
        <p:grpSpPr>
          <a:xfrm>
            <a:off x="684013" y="1618548"/>
            <a:ext cx="3302034" cy="4217714"/>
            <a:chOff x="0" y="1189989"/>
            <a:chExt cx="2726700" cy="3482836"/>
          </a:xfrm>
        </p:grpSpPr>
        <p:sp>
          <p:nvSpPr>
            <p:cNvPr id="130" name="Google Shape;130;p7"/>
            <p:cNvSpPr/>
            <p:nvPr/>
          </p:nvSpPr>
          <p:spPr>
            <a:xfrm>
              <a:off x="0" y="1189989"/>
              <a:ext cx="2726700" cy="669000"/>
            </a:xfrm>
            <a:prstGeom prst="homePlate">
              <a:avLst>
                <a:gd fmla="val 50000" name="adj"/>
              </a:avLst>
            </a:prstGeom>
            <a:solidFill>
              <a:srgbClr val="0942A1"/>
            </a:solidFill>
            <a:ln>
              <a:noFill/>
            </a:ln>
          </p:spPr>
          <p:txBody>
            <a:bodyPr anchorCtr="0" anchor="ctr" bIns="110700" lIns="110700" spcFirstLastPara="1" rIns="110700" wrap="square" tIns="110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1695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Fase 1</a:t>
              </a:r>
              <a:endParaRPr sz="169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1" name="Google Shape;131;p7"/>
            <p:cNvSpPr txBox="1"/>
            <p:nvPr/>
          </p:nvSpPr>
          <p:spPr>
            <a:xfrm>
              <a:off x="410850" y="2057125"/>
              <a:ext cx="19050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0700" lIns="110700" spcFirstLastPara="1" rIns="110700" wrap="square" tIns="110700">
              <a:noAutofit/>
            </a:bodyPr>
            <a:lstStyle/>
            <a:p>
              <a:pPr indent="-361404" lvl="0" marL="553641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332"/>
                <a:buChar char="●"/>
              </a:pPr>
              <a:r>
                <a:rPr lang="es-CL" sz="1332"/>
                <a:t>Kick Off </a:t>
              </a:r>
              <a:endParaRPr sz="1332"/>
            </a:p>
            <a:p>
              <a:pPr indent="-361404" lvl="0" marL="553641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332"/>
                <a:buChar char="●"/>
              </a:pPr>
              <a:r>
                <a:rPr lang="es-CL" sz="1332"/>
                <a:t>Encuesta </a:t>
              </a:r>
              <a:endParaRPr sz="1332"/>
            </a:p>
            <a:p>
              <a:pPr indent="-361404" lvl="0" marL="553641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332"/>
                <a:buChar char="●"/>
              </a:pPr>
              <a:r>
                <a:rPr lang="es-CL" sz="1332"/>
                <a:t>Definición de metodología </a:t>
              </a:r>
              <a:endParaRPr sz="1332"/>
            </a:p>
            <a:p>
              <a:pPr indent="-361404" lvl="0" marL="553641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332"/>
                <a:buChar char="●"/>
              </a:pPr>
              <a:r>
                <a:rPr lang="es-CL" sz="1332"/>
                <a:t>Lista de requerimientos</a:t>
              </a:r>
              <a:endParaRPr sz="1332"/>
            </a:p>
            <a:p>
              <a:pPr indent="-361404" lvl="0" marL="553641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332"/>
                <a:buChar char="●"/>
              </a:pPr>
              <a:r>
                <a:rPr lang="es-CL" sz="1332"/>
                <a:t>Definición de alcance </a:t>
              </a:r>
              <a:endParaRPr sz="1332"/>
            </a:p>
            <a:p>
              <a:pPr indent="-361404" lvl="0" marL="553641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332"/>
                <a:buChar char="●"/>
              </a:pPr>
              <a:r>
                <a:rPr lang="es-CL" sz="1332"/>
                <a:t>Desarrollo doc. APT </a:t>
              </a:r>
              <a:endParaRPr sz="1332"/>
            </a:p>
            <a:p>
              <a:pPr indent="-361404" lvl="0" marL="553641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332"/>
                <a:buChar char="●"/>
              </a:pPr>
              <a:r>
                <a:rPr lang="es-CL" sz="1332"/>
                <a:t>Creación de cronograma </a:t>
              </a:r>
              <a:endParaRPr sz="1332"/>
            </a:p>
            <a:p>
              <a:pPr indent="-361404" lvl="0" marL="553641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332"/>
                <a:buChar char="●"/>
              </a:pPr>
              <a:r>
                <a:rPr lang="es-CL" sz="1332"/>
                <a:t>Entrega documentos </a:t>
              </a:r>
              <a:endParaRPr sz="1332"/>
            </a:p>
            <a:p>
              <a:pPr indent="-361404" lvl="0" marL="553641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332"/>
                <a:buChar char="●"/>
              </a:pPr>
              <a:r>
                <a:rPr lang="es-CL" sz="1332"/>
                <a:t>Presentación fase 1</a:t>
              </a:r>
              <a:endParaRPr sz="1332"/>
            </a:p>
          </p:txBody>
        </p:sp>
      </p:grpSp>
      <p:grpSp>
        <p:nvGrpSpPr>
          <p:cNvPr id="132" name="Google Shape;132;p7"/>
          <p:cNvGrpSpPr/>
          <p:nvPr/>
        </p:nvGrpSpPr>
        <p:grpSpPr>
          <a:xfrm>
            <a:off x="3425020" y="1618289"/>
            <a:ext cx="3077514" cy="4217974"/>
            <a:chOff x="2263425" y="1189775"/>
            <a:chExt cx="2541300" cy="3483050"/>
          </a:xfrm>
        </p:grpSpPr>
        <p:sp>
          <p:nvSpPr>
            <p:cNvPr id="133" name="Google Shape;133;p7"/>
            <p:cNvSpPr/>
            <p:nvPr/>
          </p:nvSpPr>
          <p:spPr>
            <a:xfrm>
              <a:off x="2263425" y="1189775"/>
              <a:ext cx="2541300" cy="669000"/>
            </a:xfrm>
            <a:prstGeom prst="chevron">
              <a:avLst>
                <a:gd fmla="val 50000" name="adj"/>
              </a:avLst>
            </a:prstGeom>
            <a:solidFill>
              <a:srgbClr val="0C57D3"/>
            </a:solidFill>
            <a:ln>
              <a:noFill/>
            </a:ln>
          </p:spPr>
          <p:txBody>
            <a:bodyPr anchorCtr="0" anchor="ctr" bIns="110700" lIns="110700" spcFirstLastPara="1" rIns="110700" wrap="square" tIns="110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1695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Fase 2 avance</a:t>
              </a:r>
              <a:endParaRPr sz="169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4" name="Google Shape;134;p7"/>
            <p:cNvSpPr txBox="1"/>
            <p:nvPr/>
          </p:nvSpPr>
          <p:spPr>
            <a:xfrm>
              <a:off x="2512202" y="2057125"/>
              <a:ext cx="19050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0700" lIns="110700" spcFirstLastPara="1" rIns="110700" wrap="square" tIns="110700">
              <a:noAutofit/>
            </a:bodyPr>
            <a:lstStyle/>
            <a:p>
              <a:pPr indent="-361404" lvl="0" marL="553641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332"/>
                <a:buChar char="●"/>
              </a:pPr>
              <a:r>
                <a:rPr lang="es-CL" sz="1332"/>
                <a:t>Planeación de Sprint</a:t>
              </a:r>
              <a:endParaRPr sz="1332"/>
            </a:p>
            <a:p>
              <a:pPr indent="-361404" lvl="0" marL="553641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332"/>
                <a:buChar char="●"/>
              </a:pPr>
              <a:r>
                <a:rPr lang="es-CL" sz="1332"/>
                <a:t>Modelamiento y creación de BBDD</a:t>
              </a:r>
              <a:endParaRPr sz="1332"/>
            </a:p>
            <a:p>
              <a:pPr indent="-361404" lvl="0" marL="553641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332"/>
                <a:buChar char="●"/>
              </a:pPr>
              <a:r>
                <a:rPr lang="es-CL" sz="1332"/>
                <a:t>Creación de interfaz </a:t>
              </a:r>
              <a:endParaRPr sz="1332"/>
            </a:p>
            <a:p>
              <a:pPr indent="-361404" lvl="0" marL="553641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332"/>
                <a:buChar char="●"/>
              </a:pPr>
              <a:r>
                <a:rPr lang="es-CL" sz="1332"/>
                <a:t>Módulo registro/login</a:t>
              </a:r>
              <a:endParaRPr sz="1332"/>
            </a:p>
            <a:p>
              <a:pPr indent="-361404" lvl="0" marL="553641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332"/>
                <a:buChar char="●"/>
              </a:pPr>
              <a:r>
                <a:rPr lang="es-CL" sz="1332"/>
                <a:t>Módulo Chat</a:t>
              </a:r>
              <a:endParaRPr sz="1332"/>
            </a:p>
            <a:p>
              <a:pPr indent="-361404" lvl="0" marL="553641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332"/>
                <a:buChar char="●"/>
              </a:pPr>
              <a:r>
                <a:rPr lang="es-CL" sz="1332"/>
                <a:t>Módulo de tutor</a:t>
              </a:r>
              <a:endParaRPr sz="1332"/>
            </a:p>
            <a:p>
              <a:pPr indent="-361404" lvl="0" marL="553641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332"/>
                <a:buChar char="●"/>
              </a:pPr>
              <a:r>
                <a:rPr lang="es-CL" sz="1332"/>
                <a:t>Revisión de Sprint</a:t>
              </a:r>
              <a:endParaRPr sz="1332"/>
            </a:p>
            <a:p>
              <a:pPr indent="-361404" lvl="0" marL="553641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332"/>
                <a:buChar char="●"/>
              </a:pPr>
              <a:r>
                <a:rPr lang="es-CL" sz="1332"/>
                <a:t>Desarrollo informe avance fase 2</a:t>
              </a:r>
              <a:endParaRPr sz="1332"/>
            </a:p>
            <a:p>
              <a:pPr indent="-361404" lvl="0" marL="553641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332"/>
                <a:buChar char="●"/>
              </a:pPr>
              <a:r>
                <a:rPr lang="es-CL" sz="1332"/>
                <a:t>Entrega informe avance fase 2</a:t>
              </a:r>
              <a:endParaRPr sz="1332"/>
            </a:p>
          </p:txBody>
        </p:sp>
      </p:grpSp>
      <p:grpSp>
        <p:nvGrpSpPr>
          <p:cNvPr id="135" name="Google Shape;135;p7"/>
          <p:cNvGrpSpPr/>
          <p:nvPr/>
        </p:nvGrpSpPr>
        <p:grpSpPr>
          <a:xfrm>
            <a:off x="5927611" y="1618289"/>
            <a:ext cx="3077514" cy="4217974"/>
            <a:chOff x="4329974" y="1189775"/>
            <a:chExt cx="2541300" cy="3483050"/>
          </a:xfrm>
        </p:grpSpPr>
        <p:sp>
          <p:nvSpPr>
            <p:cNvPr id="136" name="Google Shape;136;p7"/>
            <p:cNvSpPr/>
            <p:nvPr/>
          </p:nvSpPr>
          <p:spPr>
            <a:xfrm>
              <a:off x="4329974" y="1189775"/>
              <a:ext cx="2541300" cy="669000"/>
            </a:xfrm>
            <a:prstGeom prst="chevron">
              <a:avLst>
                <a:gd fmla="val 50000" name="adj"/>
              </a:avLst>
            </a:prstGeom>
            <a:solidFill>
              <a:srgbClr val="0D5CDF"/>
            </a:solidFill>
            <a:ln>
              <a:noFill/>
            </a:ln>
          </p:spPr>
          <p:txBody>
            <a:bodyPr anchorCtr="0" anchor="ctr" bIns="110700" lIns="110700" spcFirstLastPara="1" rIns="110700" wrap="square" tIns="110700">
              <a:noAutofit/>
            </a:bodyPr>
            <a:lstStyle/>
            <a:p>
              <a:pPr indent="0" lvl="0" marL="553641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1695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Fase 2 Final</a:t>
              </a:r>
              <a:endParaRPr sz="169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7" name="Google Shape;137;p7"/>
            <p:cNvSpPr txBox="1"/>
            <p:nvPr/>
          </p:nvSpPr>
          <p:spPr>
            <a:xfrm>
              <a:off x="4613553" y="2057125"/>
              <a:ext cx="19050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0700" lIns="110700" spcFirstLastPara="1" rIns="110700" wrap="square" tIns="110700">
              <a:noAutofit/>
            </a:bodyPr>
            <a:lstStyle/>
            <a:p>
              <a:pPr indent="-361404" lvl="0" marL="553641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332"/>
                <a:buChar char="●"/>
              </a:pPr>
              <a:r>
                <a:rPr lang="es-CL" sz="1332"/>
                <a:t>Planeación de Sprint</a:t>
              </a:r>
              <a:endParaRPr sz="1332"/>
            </a:p>
            <a:p>
              <a:pPr indent="-361404" lvl="0" marL="553641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332"/>
                <a:buChar char="●"/>
              </a:pPr>
              <a:r>
                <a:rPr lang="es-CL" sz="1332"/>
                <a:t>Creación de interfaz responsiva</a:t>
              </a:r>
              <a:endParaRPr sz="1332"/>
            </a:p>
            <a:p>
              <a:pPr indent="-361404" lvl="0" marL="553641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332"/>
                <a:buChar char="●"/>
              </a:pPr>
              <a:r>
                <a:rPr lang="es-CL" sz="1332"/>
                <a:t>Módulo videollamada</a:t>
              </a:r>
              <a:endParaRPr sz="1332"/>
            </a:p>
            <a:p>
              <a:pPr indent="-361404" lvl="0" marL="553641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332"/>
                <a:buChar char="●"/>
              </a:pPr>
              <a:r>
                <a:rPr lang="es-CL" sz="1332"/>
                <a:t>Módulo evaluaciones</a:t>
              </a:r>
              <a:endParaRPr sz="1332"/>
            </a:p>
            <a:p>
              <a:pPr indent="-361404" lvl="0" marL="553641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332"/>
                <a:buChar char="●"/>
              </a:pPr>
              <a:r>
                <a:rPr lang="es-CL" sz="1332"/>
                <a:t>Integración de módulos</a:t>
              </a:r>
              <a:endParaRPr sz="1332"/>
            </a:p>
            <a:p>
              <a:pPr indent="-361404" lvl="0" marL="553641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332"/>
                <a:buChar char="●"/>
              </a:pPr>
              <a:r>
                <a:rPr lang="es-CL" sz="1332"/>
                <a:t>Pruebas funcionales de </a:t>
              </a:r>
              <a:r>
                <a:rPr lang="es-CL" sz="1332"/>
                <a:t>módulos</a:t>
              </a:r>
              <a:r>
                <a:rPr lang="es-CL" sz="1332"/>
                <a:t>.</a:t>
              </a:r>
              <a:endParaRPr sz="1332"/>
            </a:p>
            <a:p>
              <a:pPr indent="-361404" lvl="0" marL="553641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332"/>
                <a:buChar char="●"/>
              </a:pPr>
              <a:r>
                <a:rPr lang="es-CL" sz="1332"/>
                <a:t>Revisión de Sprint</a:t>
              </a:r>
              <a:endParaRPr sz="1332"/>
            </a:p>
            <a:p>
              <a:pPr indent="-361404" lvl="0" marL="553641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332"/>
                <a:buChar char="●"/>
              </a:pPr>
              <a:r>
                <a:rPr lang="es-CL" sz="1332"/>
                <a:t>Desarrollo informe final fase 2</a:t>
              </a:r>
              <a:endParaRPr sz="1332"/>
            </a:p>
            <a:p>
              <a:pPr indent="-361404" lvl="0" marL="553641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332"/>
                <a:buChar char="●"/>
              </a:pPr>
              <a:r>
                <a:rPr lang="es-CL" sz="1332"/>
                <a:t>Entrega informe final fase 2</a:t>
              </a:r>
              <a:endParaRPr sz="1332"/>
            </a:p>
          </p:txBody>
        </p:sp>
      </p:grpSp>
      <p:grpSp>
        <p:nvGrpSpPr>
          <p:cNvPr id="138" name="Google Shape;138;p7"/>
          <p:cNvGrpSpPr/>
          <p:nvPr/>
        </p:nvGrpSpPr>
        <p:grpSpPr>
          <a:xfrm>
            <a:off x="8430464" y="1618289"/>
            <a:ext cx="3077514" cy="4217974"/>
            <a:chOff x="6396739" y="1189775"/>
            <a:chExt cx="2541300" cy="3483050"/>
          </a:xfrm>
        </p:grpSpPr>
        <p:sp>
          <p:nvSpPr>
            <p:cNvPr id="139" name="Google Shape;139;p7"/>
            <p:cNvSpPr/>
            <p:nvPr/>
          </p:nvSpPr>
          <p:spPr>
            <a:xfrm>
              <a:off x="6396739" y="1189775"/>
              <a:ext cx="2541300" cy="669000"/>
            </a:xfrm>
            <a:prstGeom prst="chevron">
              <a:avLst>
                <a:gd fmla="val 50000" name="adj"/>
              </a:avLst>
            </a:prstGeom>
            <a:solidFill>
              <a:srgbClr val="0E63F0"/>
            </a:solidFill>
            <a:ln>
              <a:noFill/>
            </a:ln>
          </p:spPr>
          <p:txBody>
            <a:bodyPr anchorCtr="0" anchor="ctr" bIns="110700" lIns="110700" spcFirstLastPara="1" rIns="110700" wrap="square" tIns="110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1695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Fase 3</a:t>
              </a:r>
              <a:endParaRPr sz="169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0" name="Google Shape;140;p7"/>
            <p:cNvSpPr txBox="1"/>
            <p:nvPr/>
          </p:nvSpPr>
          <p:spPr>
            <a:xfrm>
              <a:off x="6714905" y="2057125"/>
              <a:ext cx="19050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0700" lIns="110700" spcFirstLastPara="1" rIns="110700" wrap="square" tIns="110700">
              <a:noAutofit/>
            </a:bodyPr>
            <a:lstStyle/>
            <a:p>
              <a:pPr indent="-361404" lvl="0" marL="553641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332"/>
                <a:buChar char="●"/>
              </a:pPr>
              <a:r>
                <a:rPr lang="es-CL" sz="1332"/>
                <a:t>Desarrollo de entregables fase 3</a:t>
              </a:r>
              <a:endParaRPr sz="1332"/>
            </a:p>
            <a:p>
              <a:pPr indent="-361404" lvl="0" marL="553641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332"/>
                <a:buChar char="●"/>
              </a:pPr>
              <a:r>
                <a:rPr lang="es-CL" sz="1332"/>
                <a:t>Entrega fase 3</a:t>
              </a:r>
              <a:endParaRPr sz="1332"/>
            </a:p>
            <a:p>
              <a:pPr indent="-361404" lvl="0" marL="553641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332"/>
                <a:buChar char="●"/>
              </a:pPr>
              <a:r>
                <a:rPr lang="es-CL" sz="1332"/>
                <a:t>Presentación Proyecto APT</a:t>
              </a:r>
              <a:endParaRPr sz="1332"/>
            </a:p>
          </p:txBody>
        </p:sp>
      </p:grpSp>
    </p:spTree>
  </p:cSld>
  <p:clrMapOvr>
    <a:masterClrMapping/>
  </p:clrMapOvr>
  <p:transition spd="slow"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5" name="Google Shape;14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8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“TúToría”</a:t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 txBox="1"/>
          <p:nvPr/>
        </p:nvSpPr>
        <p:spPr>
          <a:xfrm>
            <a:off x="0" y="1432655"/>
            <a:ext cx="12192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software - MVT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8" name="Google Shape;148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49" name="Google Shape;149;p8" title="diagrama arq de asoftware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6750" y="2068425"/>
            <a:ext cx="2878500" cy="463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4" name="Google Shape;15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9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“TúToría”</a:t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 txBox="1"/>
          <p:nvPr/>
        </p:nvSpPr>
        <p:spPr>
          <a:xfrm>
            <a:off x="0" y="1432655"/>
            <a:ext cx="12192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 la solución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7" name="Google Shape;157;p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58" name="Google Shape;158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98313" y="2612543"/>
            <a:ext cx="8867775" cy="392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3" name="Google Shape;16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0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“TúToría”</a:t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0"/>
          <p:cNvSpPr txBox="1"/>
          <p:nvPr/>
        </p:nvSpPr>
        <p:spPr>
          <a:xfrm>
            <a:off x="136200" y="27698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/>
          </a:p>
        </p:txBody>
      </p:sp>
      <p:cxnSp>
        <p:nvCxnSpPr>
          <p:cNvPr id="166" name="Google Shape;166;p1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67" name="Google Shape;167;p10" title="Modelo B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65088" y="846350"/>
            <a:ext cx="8857421" cy="6011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2" name="Google Shape;172;g3a54f115217_0_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g3a54f115217_0_21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“TúToría”</a:t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3a54f115217_0_21"/>
          <p:cNvSpPr txBox="1"/>
          <p:nvPr/>
        </p:nvSpPr>
        <p:spPr>
          <a:xfrm>
            <a:off x="136050" y="27697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 Detalle</a:t>
            </a:r>
            <a:endParaRPr/>
          </a:p>
        </p:txBody>
      </p:sp>
      <p:cxnSp>
        <p:nvCxnSpPr>
          <p:cNvPr id="175" name="Google Shape;175;g3a54f115217_0_21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76" name="Google Shape;176;g3a54f115217_0_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4850" y="1075880"/>
            <a:ext cx="4540664" cy="5629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g3a54f115217_0_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45564" y="1075877"/>
            <a:ext cx="5162550" cy="418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82" name="Google Shape;18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1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“TúToría”</a:t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1"/>
          <p:cNvSpPr txBox="1"/>
          <p:nvPr/>
        </p:nvSpPr>
        <p:spPr>
          <a:xfrm>
            <a:off x="0" y="1432655"/>
            <a:ext cx="12192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Elementos Analíticos a Incorporar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5" name="Google Shape;185;p11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6" name="Google Shape;186;p11"/>
          <p:cNvSpPr/>
          <p:nvPr/>
        </p:nvSpPr>
        <p:spPr>
          <a:xfrm>
            <a:off x="750725" y="2641349"/>
            <a:ext cx="10962900" cy="2019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3020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-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Identificar las </a:t>
            </a: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áreas</a:t>
            </a: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conocimiento con mayor solicitudes por </a:t>
            </a: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región para la incorporación de nuevos tutores mediante invitaciones o publicidad que cubran la demanda, con el fin de potenciar la oferta en esas asignaturas.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-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Reconocer usuarios activos que realicen o reciban </a:t>
            </a: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tutorías</a:t>
            </a: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al menos 3 veces por mes con el fin de mantener la </a:t>
            </a: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participación</a:t>
            </a: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potenciar la actividad dentro de la plataforma.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-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Medir la calidad de los tutores en la plataforma mediante las reseñas entregadas por los usuarios.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-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Ausencia de tutores en ciertas </a:t>
            </a: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áreas</a:t>
            </a: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conocimiento.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-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isminución</a:t>
            </a: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tutorías</a:t>
            </a: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realizadas en la temporada de vacaciones.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91" name="Google Shape;19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2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“TúToría”</a:t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2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/>
          </a:p>
        </p:txBody>
      </p:sp>
      <p:cxnSp>
        <p:nvCxnSpPr>
          <p:cNvPr id="194" name="Google Shape;194;p1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95" name="Google Shape;195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70375" y="2326800"/>
            <a:ext cx="1535380" cy="1535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11284" y="2326800"/>
            <a:ext cx="1535380" cy="1535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22482" y="2326800"/>
            <a:ext cx="1926738" cy="15353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413417" y="2326800"/>
            <a:ext cx="1535380" cy="1535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88180" y="4244777"/>
            <a:ext cx="1535380" cy="1535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336602" y="4306244"/>
            <a:ext cx="1535380" cy="1535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155440" y="4367712"/>
            <a:ext cx="1681766" cy="14124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6" name="Google Shape;20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3"/>
          <p:cNvSpPr txBox="1"/>
          <p:nvPr/>
        </p:nvSpPr>
        <p:spPr>
          <a:xfrm>
            <a:off x="1" y="1459095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/>
          </a:p>
        </p:txBody>
      </p:sp>
      <p:sp>
        <p:nvSpPr>
          <p:cNvPr id="208" name="Google Shape;208;p13"/>
          <p:cNvSpPr txBox="1"/>
          <p:nvPr/>
        </p:nvSpPr>
        <p:spPr>
          <a:xfrm>
            <a:off x="878400" y="2477975"/>
            <a:ext cx="10435200" cy="39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s-CL" sz="1800">
                <a:solidFill>
                  <a:schemeClr val="dk2"/>
                </a:solidFill>
              </a:rPr>
              <a:t>Funcionalidades principales operativas.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s-CL" sz="1800">
                <a:solidFill>
                  <a:schemeClr val="dk2"/>
                </a:solidFill>
              </a:rPr>
              <a:t>Plataforma responsiva para mejor acceso en diferentes dispositivos.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s-CL" sz="1800">
                <a:solidFill>
                  <a:schemeClr val="dk2"/>
                </a:solidFill>
              </a:rPr>
              <a:t>Implementación de </a:t>
            </a:r>
            <a:r>
              <a:rPr lang="es-CL" sz="1800">
                <a:solidFill>
                  <a:schemeClr val="dk2"/>
                </a:solidFill>
              </a:rPr>
              <a:t>tecnologías</a:t>
            </a:r>
            <a:r>
              <a:rPr lang="es-CL" sz="1800">
                <a:solidFill>
                  <a:schemeClr val="dk2"/>
                </a:solidFill>
              </a:rPr>
              <a:t> y herramientas necesarias para completar la plataforma.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13" name="Google Shape;21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4"/>
          <p:cNvSpPr txBox="1"/>
          <p:nvPr/>
        </p:nvSpPr>
        <p:spPr>
          <a:xfrm>
            <a:off x="1" y="1360773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Obstáculos presentados durante el desarrollo</a:t>
            </a:r>
            <a:endParaRPr/>
          </a:p>
        </p:txBody>
      </p:sp>
      <p:sp>
        <p:nvSpPr>
          <p:cNvPr id="215" name="Google Shape;215;p14"/>
          <p:cNvSpPr txBox="1"/>
          <p:nvPr/>
        </p:nvSpPr>
        <p:spPr>
          <a:xfrm>
            <a:off x="878400" y="2477975"/>
            <a:ext cx="10435200" cy="39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s-CL" sz="1800">
                <a:solidFill>
                  <a:schemeClr val="dk2"/>
                </a:solidFill>
              </a:rPr>
              <a:t>Profundizar en la </a:t>
            </a:r>
            <a:r>
              <a:rPr lang="es-CL" sz="1800">
                <a:solidFill>
                  <a:schemeClr val="dk2"/>
                </a:solidFill>
              </a:rPr>
              <a:t>utilización</a:t>
            </a:r>
            <a:r>
              <a:rPr lang="es-CL" sz="1800">
                <a:solidFill>
                  <a:schemeClr val="dk2"/>
                </a:solidFill>
              </a:rPr>
              <a:t> de </a:t>
            </a:r>
            <a:r>
              <a:rPr lang="es-CL" sz="1800">
                <a:solidFill>
                  <a:schemeClr val="dk2"/>
                </a:solidFill>
              </a:rPr>
              <a:t>tecnologías</a:t>
            </a:r>
            <a:r>
              <a:rPr lang="es-CL" sz="1800">
                <a:solidFill>
                  <a:schemeClr val="dk2"/>
                </a:solidFill>
              </a:rPr>
              <a:t> y herramientas para el desarrollo de la plataforma, tales como docker y gcp.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s-CL" sz="1800">
                <a:solidFill>
                  <a:schemeClr val="dk2"/>
                </a:solidFill>
              </a:rPr>
              <a:t>Limitaciones de tiempo.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s-CL" sz="1800">
                <a:solidFill>
                  <a:schemeClr val="dk2"/>
                </a:solidFill>
              </a:rPr>
              <a:t>Desconocimiento de herramientas y tecnologías.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s-CL" sz="1800">
                <a:solidFill>
                  <a:schemeClr val="dk2"/>
                </a:solidFill>
              </a:rPr>
              <a:t>Dificultades familiares.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20" name="Google Shape;22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5"/>
          <p:cNvSpPr txBox="1"/>
          <p:nvPr/>
        </p:nvSpPr>
        <p:spPr>
          <a:xfrm>
            <a:off x="1" y="2707792"/>
            <a:ext cx="12192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RESULTADO DEL PROYECTO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26" name="Google Shape;2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6"/>
          <p:cNvSpPr txBox="1"/>
          <p:nvPr/>
        </p:nvSpPr>
        <p:spPr>
          <a:xfrm>
            <a:off x="0" y="3044279"/>
            <a:ext cx="121920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PREGUNTAS, CONSULTAS Y/O COMENTARIOS DE LA COMISIÓN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